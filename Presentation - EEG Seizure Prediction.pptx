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Helvetica World" charset="1" panose="020B0500040000020004"/>
      <p:regular r:id="rId19"/>
    </p:embeddedFont>
    <p:embeddedFont>
      <p:font typeface="Georgia Pro Condensed" charset="1" panose="02040506050405020303"/>
      <p:regular r:id="rId20"/>
    </p:embeddedFont>
    <p:embeddedFont>
      <p:font typeface="Helvetica World Bold" charset="1" panose="020B080004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grpSp>
        <p:nvGrpSpPr>
          <p:cNvPr name="Group 2" id="2"/>
          <p:cNvGrpSpPr/>
          <p:nvPr/>
        </p:nvGrpSpPr>
        <p:grpSpPr>
          <a:xfrm rot="0">
            <a:off x="0" y="-12700"/>
            <a:ext cx="11201400" cy="10299700"/>
            <a:chOff x="0" y="0"/>
            <a:chExt cx="963348" cy="885799"/>
          </a:xfrm>
        </p:grpSpPr>
        <p:sp>
          <p:nvSpPr>
            <p:cNvPr name="Freeform 3" id="3"/>
            <p:cNvSpPr/>
            <p:nvPr/>
          </p:nvSpPr>
          <p:spPr>
            <a:xfrm flipH="false" flipV="false" rot="0">
              <a:off x="0" y="0"/>
              <a:ext cx="963348" cy="885799"/>
            </a:xfrm>
            <a:custGeom>
              <a:avLst/>
              <a:gdLst/>
              <a:ahLst/>
              <a:cxnLst/>
              <a:rect r="r" b="b" t="t" l="l"/>
              <a:pathLst>
                <a:path h="885799" w="963348">
                  <a:moveTo>
                    <a:pt x="0" y="0"/>
                  </a:moveTo>
                  <a:lnTo>
                    <a:pt x="963348" y="0"/>
                  </a:lnTo>
                  <a:lnTo>
                    <a:pt x="963348" y="885799"/>
                  </a:lnTo>
                  <a:lnTo>
                    <a:pt x="0" y="885799"/>
                  </a:lnTo>
                  <a:close/>
                </a:path>
              </a:pathLst>
            </a:custGeom>
            <a:solidFill>
              <a:srgbClr val="3A5A86"/>
            </a:solidFill>
          </p:spPr>
        </p:sp>
      </p:grpSp>
      <p:grpSp>
        <p:nvGrpSpPr>
          <p:cNvPr name="Group 4" id="4"/>
          <p:cNvGrpSpPr/>
          <p:nvPr/>
        </p:nvGrpSpPr>
        <p:grpSpPr>
          <a:xfrm rot="0">
            <a:off x="11868150"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666750" y="8382635"/>
            <a:ext cx="6886575" cy="1237615"/>
          </a:xfrm>
          <a:prstGeom prst="rect">
            <a:avLst/>
          </a:prstGeom>
        </p:spPr>
        <p:txBody>
          <a:bodyPr anchor="t" rtlCol="false" tIns="0" lIns="0" bIns="0" rIns="0">
            <a:spAutoFit/>
          </a:bodyPr>
          <a:lstStyle/>
          <a:p>
            <a:pPr algn="l">
              <a:lnSpc>
                <a:spcPts val="4940"/>
              </a:lnSpc>
            </a:pPr>
            <a:r>
              <a:rPr lang="en-US" sz="3800" spc="-57">
                <a:solidFill>
                  <a:srgbClr val="D0E1F9"/>
                </a:solidFill>
                <a:latin typeface="Helvetica World"/>
                <a:ea typeface="Helvetica World"/>
                <a:cs typeface="Helvetica World"/>
                <a:sym typeface="Helvetica World"/>
              </a:rPr>
              <a:t>IRFANULLAH </a:t>
            </a:r>
          </a:p>
          <a:p>
            <a:pPr algn="l" marL="0" indent="0" lvl="0">
              <a:lnSpc>
                <a:spcPts val="4940"/>
              </a:lnSpc>
            </a:pPr>
            <a:r>
              <a:rPr lang="en-US" sz="3800" spc="-57">
                <a:solidFill>
                  <a:srgbClr val="D0E1F9"/>
                </a:solidFill>
                <a:latin typeface="Helvetica World"/>
                <a:ea typeface="Helvetica World"/>
                <a:cs typeface="Helvetica World"/>
                <a:sym typeface="Helvetica World"/>
              </a:rPr>
              <a:t>BS DATA SCIENCE </a:t>
            </a:r>
          </a:p>
        </p:txBody>
      </p:sp>
      <p:sp>
        <p:nvSpPr>
          <p:cNvPr name="TextBox 7" id="7"/>
          <p:cNvSpPr txBox="true"/>
          <p:nvPr/>
        </p:nvSpPr>
        <p:spPr>
          <a:xfrm rot="0">
            <a:off x="675380" y="975068"/>
            <a:ext cx="9754495" cy="3894609"/>
          </a:xfrm>
          <a:prstGeom prst="rect">
            <a:avLst/>
          </a:prstGeom>
        </p:spPr>
        <p:txBody>
          <a:bodyPr anchor="t" rtlCol="false" tIns="0" lIns="0" bIns="0" rIns="0">
            <a:spAutoFit/>
          </a:bodyPr>
          <a:lstStyle/>
          <a:p>
            <a:pPr algn="l" marL="0" indent="0" lvl="0">
              <a:lnSpc>
                <a:spcPts val="14956"/>
              </a:lnSpc>
            </a:pPr>
            <a:r>
              <a:rPr lang="en-US" sz="14956" spc="-523" strike="noStrike" u="none">
                <a:solidFill>
                  <a:srgbClr val="D0E1F9"/>
                </a:solidFill>
                <a:latin typeface="Georgia Pro Condensed"/>
                <a:ea typeface="Georgia Pro Condensed"/>
                <a:cs typeface="Georgia Pro Condensed"/>
                <a:sym typeface="Georgia Pro Condensed"/>
              </a:rPr>
              <a:t>EEG Seizure Prediction</a:t>
            </a:r>
          </a:p>
        </p:txBody>
      </p:sp>
      <p:sp>
        <p:nvSpPr>
          <p:cNvPr name="Freeform 8" id="8"/>
          <p:cNvSpPr/>
          <p:nvPr/>
        </p:nvSpPr>
        <p:spPr>
          <a:xfrm flipH="false" flipV="false" rot="-3117037">
            <a:off x="8947742" y="7656091"/>
            <a:ext cx="2112604" cy="1859092"/>
          </a:xfrm>
          <a:custGeom>
            <a:avLst/>
            <a:gdLst/>
            <a:ahLst/>
            <a:cxnLst/>
            <a:rect r="r" b="b" t="t" l="l"/>
            <a:pathLst>
              <a:path h="1859092" w="2112604">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grpSp>
        <p:nvGrpSpPr>
          <p:cNvPr name="Group 2" id="2"/>
          <p:cNvGrpSpPr/>
          <p:nvPr/>
        </p:nvGrpSpPr>
        <p:grpSpPr>
          <a:xfrm rot="0">
            <a:off x="9296400" y="0"/>
            <a:ext cx="8991600" cy="3352800"/>
            <a:chOff x="0" y="0"/>
            <a:chExt cx="2368158" cy="883042"/>
          </a:xfrm>
        </p:grpSpPr>
        <p:sp>
          <p:nvSpPr>
            <p:cNvPr name="Freeform 3" id="3"/>
            <p:cNvSpPr/>
            <p:nvPr/>
          </p:nvSpPr>
          <p:spPr>
            <a:xfrm flipH="false" flipV="false" rot="0">
              <a:off x="0" y="0"/>
              <a:ext cx="2368158" cy="883042"/>
            </a:xfrm>
            <a:custGeom>
              <a:avLst/>
              <a:gdLst/>
              <a:ahLst/>
              <a:cxnLst/>
              <a:rect r="r" b="b" t="t" l="l"/>
              <a:pathLst>
                <a:path h="883042" w="2368158">
                  <a:moveTo>
                    <a:pt x="0" y="0"/>
                  </a:moveTo>
                  <a:lnTo>
                    <a:pt x="2368158" y="0"/>
                  </a:lnTo>
                  <a:lnTo>
                    <a:pt x="2368158" y="883042"/>
                  </a:lnTo>
                  <a:lnTo>
                    <a:pt x="0" y="883042"/>
                  </a:lnTo>
                  <a:close/>
                </a:path>
              </a:pathLst>
            </a:custGeom>
            <a:solidFill>
              <a:srgbClr val="10273F"/>
            </a:solidFill>
          </p:spPr>
        </p:sp>
        <p:sp>
          <p:nvSpPr>
            <p:cNvPr name="TextBox 4" id="4"/>
            <p:cNvSpPr txBox="true"/>
            <p:nvPr/>
          </p:nvSpPr>
          <p:spPr>
            <a:xfrm>
              <a:off x="0" y="-57150"/>
              <a:ext cx="2368158" cy="94019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8991600" y="0"/>
            <a:ext cx="9296400" cy="10287000"/>
            <a:chOff x="0" y="0"/>
            <a:chExt cx="1220873" cy="1350966"/>
          </a:xfrm>
        </p:grpSpPr>
        <p:sp>
          <p:nvSpPr>
            <p:cNvPr name="Freeform 6" id="6"/>
            <p:cNvSpPr/>
            <p:nvPr/>
          </p:nvSpPr>
          <p:spPr>
            <a:xfrm flipH="false" flipV="false" rot="0">
              <a:off x="0" y="0"/>
              <a:ext cx="1220873" cy="1350966"/>
            </a:xfrm>
            <a:custGeom>
              <a:avLst/>
              <a:gdLst/>
              <a:ahLst/>
              <a:cxnLst/>
              <a:rect r="r" b="b" t="t" l="l"/>
              <a:pathLst>
                <a:path h="1350966" w="1220873">
                  <a:moveTo>
                    <a:pt x="0" y="0"/>
                  </a:moveTo>
                  <a:lnTo>
                    <a:pt x="1220873" y="0"/>
                  </a:lnTo>
                  <a:lnTo>
                    <a:pt x="1220873" y="1350966"/>
                  </a:lnTo>
                  <a:lnTo>
                    <a:pt x="0" y="1350966"/>
                  </a:lnTo>
                  <a:close/>
                </a:path>
              </a:pathLst>
            </a:custGeom>
            <a:blipFill>
              <a:blip r:embed="rId2"/>
              <a:stretch>
                <a:fillRect l="-417" t="0" r="-417" b="0"/>
              </a:stretch>
            </a:blipFill>
          </p:spPr>
        </p:sp>
      </p:grpSp>
      <p:sp>
        <p:nvSpPr>
          <p:cNvPr name="TextBox 7" id="7"/>
          <p:cNvSpPr txBox="true"/>
          <p:nvPr/>
        </p:nvSpPr>
        <p:spPr>
          <a:xfrm rot="0">
            <a:off x="666750" y="809625"/>
            <a:ext cx="6886575" cy="2079626"/>
          </a:xfrm>
          <a:prstGeom prst="rect">
            <a:avLst/>
          </a:prstGeom>
        </p:spPr>
        <p:txBody>
          <a:bodyPr anchor="t" rtlCol="false" tIns="0" lIns="0" bIns="0" rIns="0">
            <a:spAutoFit/>
          </a:bodyPr>
          <a:lstStyle/>
          <a:p>
            <a:pPr algn="l" marL="0" indent="0" lvl="0">
              <a:lnSpc>
                <a:spcPts val="8000"/>
              </a:lnSpc>
              <a:spcBef>
                <a:spcPct val="0"/>
              </a:spcBef>
            </a:pPr>
            <a:r>
              <a:rPr lang="en-US" sz="8000" strike="noStrike" u="none">
                <a:solidFill>
                  <a:srgbClr val="D0E1F9"/>
                </a:solidFill>
                <a:latin typeface="Georgia Pro Condensed"/>
                <a:ea typeface="Georgia Pro Condensed"/>
                <a:cs typeface="Georgia Pro Condensed"/>
                <a:sym typeface="Georgia Pro Condensed"/>
              </a:rPr>
              <a:t>Introduction and Objectives</a:t>
            </a:r>
          </a:p>
        </p:txBody>
      </p:sp>
      <p:sp>
        <p:nvSpPr>
          <p:cNvPr name="TextBox 8" id="8"/>
          <p:cNvSpPr txBox="true"/>
          <p:nvPr/>
        </p:nvSpPr>
        <p:spPr>
          <a:xfrm rot="0">
            <a:off x="666750" y="7007225"/>
            <a:ext cx="6886575" cy="2613025"/>
          </a:xfrm>
          <a:prstGeom prst="rect">
            <a:avLst/>
          </a:prstGeom>
        </p:spPr>
        <p:txBody>
          <a:bodyPr anchor="t" rtlCol="false" tIns="0" lIns="0" bIns="0" rIns="0">
            <a:spAutoFit/>
          </a:bodyPr>
          <a:lstStyle/>
          <a:p>
            <a:pPr algn="l" marL="0" indent="0" lvl="0">
              <a:lnSpc>
                <a:spcPts val="3499"/>
              </a:lnSpc>
            </a:pPr>
            <a:r>
              <a:rPr lang="en-US" sz="2499" spc="-37" strike="noStrike" u="none">
                <a:solidFill>
                  <a:srgbClr val="D0E1F9"/>
                </a:solidFill>
                <a:latin typeface="Helvetica World"/>
                <a:ea typeface="Helvetica World"/>
                <a:cs typeface="Helvetica World"/>
                <a:sym typeface="Helvetica World"/>
              </a:rPr>
              <a:t>Epilepsy alters brain activity, making seizure prediction vital. We leverage EEG signals and machine learning to enhance prediction accuracy, aiming to assess preprocessing effects and evaluate regularisation methods for improved classification.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3</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3657600"/>
            <a:chOff x="0" y="0"/>
            <a:chExt cx="17259300" cy="4876800"/>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Datasets Overview</a:t>
              </a:r>
            </a:p>
          </p:txBody>
        </p:sp>
        <p:sp>
          <p:nvSpPr>
            <p:cNvPr name="TextBox 8" id="8"/>
            <p:cNvSpPr txBox="true"/>
            <p:nvPr/>
          </p:nvSpPr>
          <p:spPr>
            <a:xfrm rot="0">
              <a:off x="0" y="2187687"/>
              <a:ext cx="172593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Key Challenges in EEG Analysis</a:t>
              </a:r>
            </a:p>
          </p:txBody>
        </p:sp>
        <p:sp>
          <p:nvSpPr>
            <p:cNvPr name="TextBox 9" id="9"/>
            <p:cNvSpPr txBox="true"/>
            <p:nvPr/>
          </p:nvSpPr>
          <p:spPr>
            <a:xfrm rot="0">
              <a:off x="0" y="3059641"/>
              <a:ext cx="13512134" cy="1817159"/>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The analysis utilizes three primary datasets: Kaggle EEG, Bonn EEG, and CHB-MIT. Each presents unique challenges including </a:t>
              </a:r>
              <a:r>
                <a:rPr lang="en-US" b="true" sz="2499" spc="-37">
                  <a:solidFill>
                    <a:srgbClr val="D0E1F9"/>
                  </a:solidFill>
                  <a:latin typeface="Helvetica World Bold"/>
                  <a:ea typeface="Helvetica World Bold"/>
                  <a:cs typeface="Helvetica World Bold"/>
                  <a:sym typeface="Helvetica World Bold"/>
                </a:rPr>
                <a:t>noise</a:t>
              </a:r>
              <a:r>
                <a:rPr lang="en-US" sz="2499" spc="-37">
                  <a:solidFill>
                    <a:srgbClr val="D0E1F9"/>
                  </a:solidFill>
                  <a:latin typeface="Helvetica World"/>
                  <a:ea typeface="Helvetica World"/>
                  <a:cs typeface="Helvetica World"/>
                  <a:sym typeface="Helvetica World"/>
                </a:rPr>
                <a:t>, </a:t>
              </a:r>
              <a:r>
                <a:rPr lang="en-US" b="true" sz="2499" spc="-37">
                  <a:solidFill>
                    <a:srgbClr val="D0E1F9"/>
                  </a:solidFill>
                  <a:latin typeface="Helvetica World Bold"/>
                  <a:ea typeface="Helvetica World Bold"/>
                  <a:cs typeface="Helvetica World Bold"/>
                  <a:sym typeface="Helvetica World Bold"/>
                </a:rPr>
                <a:t>high dimensionality</a:t>
              </a:r>
              <a:r>
                <a:rPr lang="en-US" sz="2499" spc="-37">
                  <a:solidFill>
                    <a:srgbClr val="D0E1F9"/>
                  </a:solidFill>
                  <a:latin typeface="Helvetica World"/>
                  <a:ea typeface="Helvetica World"/>
                  <a:cs typeface="Helvetica World"/>
                  <a:sym typeface="Helvetica World"/>
                </a:rPr>
                <a:t>, and </a:t>
              </a:r>
              <a:r>
                <a:rPr lang="en-US" b="true" sz="2499" spc="-37">
                  <a:solidFill>
                    <a:srgbClr val="D0E1F9"/>
                  </a:solidFill>
                  <a:latin typeface="Helvetica World Bold"/>
                  <a:ea typeface="Helvetica World Bold"/>
                  <a:cs typeface="Helvetica World Bold"/>
                  <a:sym typeface="Helvetica World Bold"/>
                </a:rPr>
                <a:t>class imbalance</a:t>
              </a:r>
              <a:r>
                <a:rPr lang="en-US" sz="2499" spc="-37">
                  <a:solidFill>
                    <a:srgbClr val="D0E1F9"/>
                  </a:solidFill>
                  <a:latin typeface="Helvetica World"/>
                  <a:ea typeface="Helvetica World"/>
                  <a:cs typeface="Helvetica World"/>
                  <a:sym typeface="Helvetica World"/>
                </a:rPr>
                <a:t> that affect model performance.</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4</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2067009"/>
            <a:chOff x="0" y="0"/>
            <a:chExt cx="17259300" cy="2756012"/>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Preprocessing Pipelines</a:t>
              </a:r>
            </a:p>
          </p:txBody>
        </p:sp>
        <p:sp>
          <p:nvSpPr>
            <p:cNvPr name="TextBox 8" id="8"/>
            <p:cNvSpPr txBox="true"/>
            <p:nvPr/>
          </p:nvSpPr>
          <p:spPr>
            <a:xfrm rot="0">
              <a:off x="0" y="2187687"/>
              <a:ext cx="172593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Effects of Different Approaches</a:t>
              </a:r>
            </a:p>
          </p:txBody>
        </p:sp>
      </p:grpSp>
      <p:grpSp>
        <p:nvGrpSpPr>
          <p:cNvPr name="Group 9" id="9"/>
          <p:cNvGrpSpPr/>
          <p:nvPr/>
        </p:nvGrpSpPr>
        <p:grpSpPr>
          <a:xfrm rot="0">
            <a:off x="1800225" y="5143500"/>
            <a:ext cx="5753100" cy="2225675"/>
            <a:chOff x="0" y="0"/>
            <a:chExt cx="7670800" cy="2967567"/>
          </a:xfrm>
        </p:grpSpPr>
        <p:sp>
          <p:nvSpPr>
            <p:cNvPr name="TextBox 10" id="10"/>
            <p:cNvSpPr txBox="true"/>
            <p:nvPr/>
          </p:nvSpPr>
          <p:spPr>
            <a:xfrm rot="0">
              <a:off x="0" y="0"/>
              <a:ext cx="76708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Pipeline A</a:t>
              </a:r>
            </a:p>
          </p:txBody>
        </p:sp>
        <p:sp>
          <p:nvSpPr>
            <p:cNvPr name="TextBox 11" id="11"/>
            <p:cNvSpPr txBox="true"/>
            <p:nvPr/>
          </p:nvSpPr>
          <p:spPr>
            <a:xfrm rot="0">
              <a:off x="0" y="1060450"/>
              <a:ext cx="7670800" cy="19071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Pipeline A includes </a:t>
              </a:r>
              <a:r>
                <a:rPr lang="en-US" b="true" sz="2000" spc="-30" strike="noStrike" u="none">
                  <a:solidFill>
                    <a:srgbClr val="D0E1F9"/>
                  </a:solidFill>
                  <a:latin typeface="Helvetica World Bold"/>
                  <a:ea typeface="Helvetica World Bold"/>
                  <a:cs typeface="Helvetica World Bold"/>
                  <a:sym typeface="Helvetica World Bold"/>
                </a:rPr>
                <a:t>normalisation</a:t>
              </a:r>
              <a:r>
                <a:rPr lang="en-US" sz="2000" spc="-30" strike="noStrike" u="none">
                  <a:solidFill>
                    <a:srgbClr val="D0E1F9"/>
                  </a:solidFill>
                  <a:latin typeface="Helvetica World"/>
                  <a:ea typeface="Helvetica World"/>
                  <a:cs typeface="Helvetica World"/>
                  <a:sym typeface="Helvetica World"/>
                </a:rPr>
                <a:t>, noise removal, and feature selection to improve data quality and model performance, ensuring critical information is preserved for effective analysis.</a:t>
              </a:r>
            </a:p>
          </p:txBody>
        </p:sp>
      </p:grpSp>
      <p:grpSp>
        <p:nvGrpSpPr>
          <p:cNvPr name="Group 12" id="12"/>
          <p:cNvGrpSpPr/>
          <p:nvPr/>
        </p:nvGrpSpPr>
        <p:grpSpPr>
          <a:xfrm rot="0">
            <a:off x="9296400" y="5143500"/>
            <a:ext cx="5448300" cy="2197100"/>
            <a:chOff x="0" y="0"/>
            <a:chExt cx="7264400" cy="2929467"/>
          </a:xfrm>
        </p:grpSpPr>
        <p:sp>
          <p:nvSpPr>
            <p:cNvPr name="TextBox 13" id="13"/>
            <p:cNvSpPr txBox="true"/>
            <p:nvPr/>
          </p:nvSpPr>
          <p:spPr>
            <a:xfrm rot="0">
              <a:off x="0" y="0"/>
              <a:ext cx="72644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Pipeline B</a:t>
              </a:r>
            </a:p>
          </p:txBody>
        </p:sp>
        <p:sp>
          <p:nvSpPr>
            <p:cNvPr name="TextBox 14" id="14"/>
            <p:cNvSpPr txBox="true"/>
            <p:nvPr/>
          </p:nvSpPr>
          <p:spPr>
            <a:xfrm rot="0">
              <a:off x="0" y="1060450"/>
              <a:ext cx="7264400" cy="18690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Pipeline B employs feature extraction, scaling, and PCA to reduce dimensionality while preserving the most significant variance, ultimately affecting the model’s accuracy and efficiency in predictions.</a:t>
              </a:r>
            </a:p>
          </p:txBody>
        </p:sp>
      </p:grpSp>
      <p:sp>
        <p:nvSpPr>
          <p:cNvPr name="Freeform 15" id="15"/>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5</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067009"/>
            <a:chOff x="0" y="0"/>
            <a:chExt cx="17665700" cy="2756012"/>
          </a:xfrm>
        </p:grpSpPr>
        <p:sp>
          <p:nvSpPr>
            <p:cNvPr name="TextBox 7" id="7"/>
            <p:cNvSpPr txBox="true"/>
            <p:nvPr/>
          </p:nvSpPr>
          <p:spPr>
            <a:xfrm rot="0">
              <a:off x="0" y="-85725"/>
              <a:ext cx="176657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Logistic Regression Overview</a:t>
              </a:r>
            </a:p>
          </p:txBody>
        </p:sp>
        <p:sp>
          <p:nvSpPr>
            <p:cNvPr name="TextBox 8" id="8"/>
            <p:cNvSpPr txBox="true"/>
            <p:nvPr/>
          </p:nvSpPr>
          <p:spPr>
            <a:xfrm rot="0">
              <a:off x="0" y="2187687"/>
              <a:ext cx="176657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Understanding Regularisation Techniques</a:t>
              </a:r>
            </a:p>
          </p:txBody>
        </p:sp>
      </p:grpSp>
      <p:grpSp>
        <p:nvGrpSpPr>
          <p:cNvPr name="Group 9" id="9"/>
          <p:cNvGrpSpPr/>
          <p:nvPr/>
        </p:nvGrpSpPr>
        <p:grpSpPr>
          <a:xfrm rot="0">
            <a:off x="1800225" y="5143500"/>
            <a:ext cx="4308497" cy="2930525"/>
            <a:chOff x="0" y="0"/>
            <a:chExt cx="5744662" cy="3907367"/>
          </a:xfrm>
        </p:grpSpPr>
        <p:sp>
          <p:nvSpPr>
            <p:cNvPr name="TextBox 10" id="10"/>
            <p:cNvSpPr txBox="true"/>
            <p:nvPr/>
          </p:nvSpPr>
          <p:spPr>
            <a:xfrm rot="0">
              <a:off x="0" y="0"/>
              <a:ext cx="5744662"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Logistic Regression</a:t>
              </a:r>
            </a:p>
          </p:txBody>
        </p:sp>
        <p:sp>
          <p:nvSpPr>
            <p:cNvPr name="TextBox 11" id="11"/>
            <p:cNvSpPr txBox="true"/>
            <p:nvPr/>
          </p:nvSpPr>
          <p:spPr>
            <a:xfrm rot="0">
              <a:off x="0" y="1060450"/>
              <a:ext cx="5744662" cy="28469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Logistic Regression serves as a </a:t>
              </a:r>
              <a:r>
                <a:rPr lang="en-US" b="true" sz="2000" spc="-30" strike="noStrike" u="none">
                  <a:solidFill>
                    <a:srgbClr val="D0E1F9"/>
                  </a:solidFill>
                  <a:latin typeface="Helvetica World Bold"/>
                  <a:ea typeface="Helvetica World Bold"/>
                  <a:cs typeface="Helvetica World Bold"/>
                  <a:sym typeface="Helvetica World Bold"/>
                </a:rPr>
                <a:t>baseline model</a:t>
              </a:r>
              <a:r>
                <a:rPr lang="en-US" sz="2000" spc="-30" strike="noStrike" u="none">
                  <a:solidFill>
                    <a:srgbClr val="D0E1F9"/>
                  </a:solidFill>
                  <a:latin typeface="Helvetica World"/>
                  <a:ea typeface="Helvetica World"/>
                  <a:cs typeface="Helvetica World"/>
                  <a:sym typeface="Helvetica World"/>
                </a:rPr>
                <a:t> due to its interpretability and efficiency, enabling clear insights into the relationship between EEG features and seizure predictions.</a:t>
              </a:r>
            </a:p>
          </p:txBody>
        </p:sp>
      </p:grpSp>
      <p:grpSp>
        <p:nvGrpSpPr>
          <p:cNvPr name="Group 12" id="12"/>
          <p:cNvGrpSpPr/>
          <p:nvPr/>
        </p:nvGrpSpPr>
        <p:grpSpPr>
          <a:xfrm rot="0">
            <a:off x="7291388" y="5143500"/>
            <a:ext cx="4010025" cy="2959100"/>
            <a:chOff x="0" y="0"/>
            <a:chExt cx="5346700" cy="3945467"/>
          </a:xfrm>
        </p:grpSpPr>
        <p:sp>
          <p:nvSpPr>
            <p:cNvPr name="TextBox 13" id="13"/>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L1 Regularisation</a:t>
              </a:r>
            </a:p>
          </p:txBody>
        </p:sp>
        <p:sp>
          <p:nvSpPr>
            <p:cNvPr name="TextBox 14" id="14"/>
            <p:cNvSpPr txBox="true"/>
            <p:nvPr/>
          </p:nvSpPr>
          <p:spPr>
            <a:xfrm rot="0">
              <a:off x="0" y="1060450"/>
              <a:ext cx="5346700" cy="28850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L1 regularisation promotes </a:t>
              </a:r>
              <a:r>
                <a:rPr lang="en-US" b="true" sz="2000" spc="-30" strike="noStrike" u="none">
                  <a:solidFill>
                    <a:srgbClr val="D0E1F9"/>
                  </a:solidFill>
                  <a:latin typeface="Helvetica World Bold"/>
                  <a:ea typeface="Helvetica World Bold"/>
                  <a:cs typeface="Helvetica World Bold"/>
                  <a:sym typeface="Helvetica World Bold"/>
                </a:rPr>
                <a:t>sparse feature selection</a:t>
              </a:r>
              <a:r>
                <a:rPr lang="en-US" sz="2000" spc="-30" strike="noStrike" u="none">
                  <a:solidFill>
                    <a:srgbClr val="D0E1F9"/>
                  </a:solidFill>
                  <a:latin typeface="Helvetica World"/>
                  <a:ea typeface="Helvetica World"/>
                  <a:cs typeface="Helvetica World"/>
                  <a:sym typeface="Helvetica World"/>
                </a:rPr>
                <a:t>, enhancing model interpretability by allowing only the most relevant features to contribute to the prediction, effectively reducing complexity and overfitting.</a:t>
              </a:r>
            </a:p>
          </p:txBody>
        </p:sp>
      </p:grpSp>
      <p:grpSp>
        <p:nvGrpSpPr>
          <p:cNvPr name="Group 15" id="15"/>
          <p:cNvGrpSpPr/>
          <p:nvPr/>
        </p:nvGrpSpPr>
        <p:grpSpPr>
          <a:xfrm rot="0">
            <a:off x="12172950" y="5143500"/>
            <a:ext cx="4010025" cy="2959100"/>
            <a:chOff x="0" y="0"/>
            <a:chExt cx="5346700" cy="3945467"/>
          </a:xfrm>
        </p:grpSpPr>
        <p:sp>
          <p:nvSpPr>
            <p:cNvPr name="TextBox 16" id="16"/>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L2 Regularisation</a:t>
              </a:r>
            </a:p>
          </p:txBody>
        </p:sp>
        <p:sp>
          <p:nvSpPr>
            <p:cNvPr name="TextBox 17" id="17"/>
            <p:cNvSpPr txBox="true"/>
            <p:nvPr/>
          </p:nvSpPr>
          <p:spPr>
            <a:xfrm rot="0">
              <a:off x="0" y="1060450"/>
              <a:ext cx="5346700" cy="28850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L2 regularisation focuses on </a:t>
              </a:r>
              <a:r>
                <a:rPr lang="en-US" b="true" sz="2000" spc="-30" strike="noStrike" u="none">
                  <a:solidFill>
                    <a:srgbClr val="D0E1F9"/>
                  </a:solidFill>
                  <a:latin typeface="Helvetica World Bold"/>
                  <a:ea typeface="Helvetica World Bold"/>
                  <a:cs typeface="Helvetica World Bold"/>
                  <a:sym typeface="Helvetica World Bold"/>
                </a:rPr>
                <a:t>smooth coefficient shrinkage</a:t>
              </a:r>
              <a:r>
                <a:rPr lang="en-US" sz="2000" spc="-30" strike="noStrike" u="none">
                  <a:solidFill>
                    <a:srgbClr val="D0E1F9"/>
                  </a:solidFill>
                  <a:latin typeface="Helvetica World"/>
                  <a:ea typeface="Helvetica World"/>
                  <a:cs typeface="Helvetica World"/>
                  <a:sym typeface="Helvetica World"/>
                </a:rPr>
                <a:t>, mitigating model variance by penalising large coefficients, which ensures more stable predictions in the presence of multicollinearity among features.</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6</a:t>
            </a:r>
          </a:p>
        </p:txBody>
      </p:sp>
      <p:grpSp>
        <p:nvGrpSpPr>
          <p:cNvPr name="Group 3" id="3"/>
          <p:cNvGrpSpPr/>
          <p:nvPr/>
        </p:nvGrpSpPr>
        <p:grpSpPr>
          <a:xfrm rot="0">
            <a:off x="666750" y="666750"/>
            <a:ext cx="9763125" cy="1990725"/>
            <a:chOff x="0" y="0"/>
            <a:chExt cx="13017500" cy="2654300"/>
          </a:xfrm>
        </p:grpSpPr>
        <p:sp>
          <p:nvSpPr>
            <p:cNvPr name="TextBox 4" id="4"/>
            <p:cNvSpPr txBox="true"/>
            <p:nvPr/>
          </p:nvSpPr>
          <p:spPr>
            <a:xfrm rot="0">
              <a:off x="0" y="66675"/>
              <a:ext cx="13017500" cy="1554692"/>
            </a:xfrm>
            <a:prstGeom prst="rect">
              <a:avLst/>
            </a:prstGeom>
          </p:spPr>
          <p:txBody>
            <a:bodyPr anchor="t" rtlCol="false" tIns="0" lIns="0" bIns="0" rIns="0">
              <a:spAutoFit/>
            </a:bodyPr>
            <a:lstStyle/>
            <a:p>
              <a:pPr algn="l" marL="0" indent="0" lvl="0">
                <a:lnSpc>
                  <a:spcPts val="8800"/>
                </a:lnSpc>
              </a:pPr>
              <a:r>
                <a:rPr lang="en-US" sz="8000" spc="-240">
                  <a:solidFill>
                    <a:srgbClr val="D0E1F9"/>
                  </a:solidFill>
                  <a:latin typeface="Georgia Pro Condensed"/>
                  <a:ea typeface="Georgia Pro Condensed"/>
                  <a:cs typeface="Georgia Pro Condensed"/>
                  <a:sym typeface="Georgia Pro Condensed"/>
                </a:rPr>
                <a:t>EDA and PCA Insights</a:t>
              </a:r>
            </a:p>
          </p:txBody>
        </p:sp>
        <p:sp>
          <p:nvSpPr>
            <p:cNvPr name="TextBox 5" id="5"/>
            <p:cNvSpPr txBox="true"/>
            <p:nvPr/>
          </p:nvSpPr>
          <p:spPr>
            <a:xfrm rot="0">
              <a:off x="0" y="2085975"/>
              <a:ext cx="130175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Analyzing Data for Effective Predictions</a:t>
              </a:r>
            </a:p>
          </p:txBody>
        </p:sp>
      </p:grpSp>
      <p:sp>
        <p:nvSpPr>
          <p:cNvPr name="TextBox 6" id="6"/>
          <p:cNvSpPr txBox="true"/>
          <p:nvPr/>
        </p:nvSpPr>
        <p:spPr>
          <a:xfrm rot="0">
            <a:off x="666750" y="7807325"/>
            <a:ext cx="8324850" cy="1812925"/>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Exploratory Data Analysis (EDA) and PCA reveal </a:t>
            </a:r>
            <a:r>
              <a:rPr lang="en-US" b="true" sz="2499" spc="-37">
                <a:solidFill>
                  <a:srgbClr val="D0E1F9"/>
                </a:solidFill>
                <a:latin typeface="Helvetica World Bold"/>
                <a:ea typeface="Helvetica World Bold"/>
                <a:cs typeface="Helvetica World Bold"/>
                <a:sym typeface="Helvetica World Bold"/>
              </a:rPr>
              <a:t>important patterns</a:t>
            </a:r>
            <a:r>
              <a:rPr lang="en-US" sz="2499" spc="-37">
                <a:solidFill>
                  <a:srgbClr val="D0E1F9"/>
                </a:solidFill>
                <a:latin typeface="Helvetica World"/>
                <a:ea typeface="Helvetica World"/>
                <a:cs typeface="Helvetica World"/>
                <a:sym typeface="Helvetica World"/>
              </a:rPr>
              <a:t> in EEG data, enhancing our understanding of how dimensionality reduction preserves variance and aids in classification.</a:t>
            </a:r>
          </a:p>
        </p:txBody>
      </p:sp>
      <p:grpSp>
        <p:nvGrpSpPr>
          <p:cNvPr name="Group 7" id="7"/>
          <p:cNvGrpSpPr/>
          <p:nvPr/>
        </p:nvGrpSpPr>
        <p:grpSpPr>
          <a:xfrm rot="0">
            <a:off x="12172950" y="5316715"/>
            <a:ext cx="5448300" cy="4303535"/>
            <a:chOff x="0" y="0"/>
            <a:chExt cx="1175568" cy="928565"/>
          </a:xfrm>
        </p:grpSpPr>
        <p:sp>
          <p:nvSpPr>
            <p:cNvPr name="Freeform 8" id="8"/>
            <p:cNvSpPr/>
            <p:nvPr/>
          </p:nvSpPr>
          <p:spPr>
            <a:xfrm flipH="false" flipV="false" rot="0">
              <a:off x="0" y="0"/>
              <a:ext cx="1175568" cy="928565"/>
            </a:xfrm>
            <a:custGeom>
              <a:avLst/>
              <a:gdLst/>
              <a:ahLst/>
              <a:cxnLst/>
              <a:rect r="r" b="b" t="t" l="l"/>
              <a:pathLst>
                <a:path h="928565" w="1175568">
                  <a:moveTo>
                    <a:pt x="28420" y="0"/>
                  </a:moveTo>
                  <a:lnTo>
                    <a:pt x="1147149" y="0"/>
                  </a:lnTo>
                  <a:cubicBezTo>
                    <a:pt x="1154686" y="0"/>
                    <a:pt x="1161915" y="2994"/>
                    <a:pt x="1167244" y="8324"/>
                  </a:cubicBezTo>
                  <a:cubicBezTo>
                    <a:pt x="1172574" y="13654"/>
                    <a:pt x="1175568" y="20882"/>
                    <a:pt x="1175568" y="28420"/>
                  </a:cubicBezTo>
                  <a:lnTo>
                    <a:pt x="1175568" y="900145"/>
                  </a:lnTo>
                  <a:cubicBezTo>
                    <a:pt x="1175568" y="915841"/>
                    <a:pt x="1162845" y="928565"/>
                    <a:pt x="1147149" y="928565"/>
                  </a:cubicBezTo>
                  <a:lnTo>
                    <a:pt x="28420" y="928565"/>
                  </a:lnTo>
                  <a:cubicBezTo>
                    <a:pt x="12724" y="928565"/>
                    <a:pt x="0" y="915841"/>
                    <a:pt x="0" y="900145"/>
                  </a:cubicBezTo>
                  <a:lnTo>
                    <a:pt x="0" y="28420"/>
                  </a:lnTo>
                  <a:cubicBezTo>
                    <a:pt x="0" y="12724"/>
                    <a:pt x="12724" y="0"/>
                    <a:pt x="28420" y="0"/>
                  </a:cubicBezTo>
                  <a:close/>
                </a:path>
              </a:pathLst>
            </a:custGeom>
            <a:blipFill>
              <a:blip r:embed="rId2"/>
              <a:stretch>
                <a:fillRect l="-151" t="0" r="-151" b="0"/>
              </a:stretch>
            </a:blipFill>
            <a:ln cap="sq">
              <a:noFill/>
              <a:prstDash val="solid"/>
              <a:miter/>
            </a:ln>
          </p:spPr>
        </p:sp>
      </p:grpSp>
      <p:grpSp>
        <p:nvGrpSpPr>
          <p:cNvPr name="Group 9" id="9"/>
          <p:cNvGrpSpPr/>
          <p:nvPr/>
        </p:nvGrpSpPr>
        <p:grpSpPr>
          <a:xfrm rot="0">
            <a:off x="12172950" y="666750"/>
            <a:ext cx="5448300" cy="4345165"/>
            <a:chOff x="0" y="0"/>
            <a:chExt cx="1484382" cy="1183834"/>
          </a:xfrm>
        </p:grpSpPr>
        <p:sp>
          <p:nvSpPr>
            <p:cNvPr name="Freeform 10" id="10"/>
            <p:cNvSpPr/>
            <p:nvPr/>
          </p:nvSpPr>
          <p:spPr>
            <a:xfrm flipH="false" flipV="false" rot="0">
              <a:off x="0" y="0"/>
              <a:ext cx="1484382" cy="1183835"/>
            </a:xfrm>
            <a:custGeom>
              <a:avLst/>
              <a:gdLst/>
              <a:ahLst/>
              <a:cxnLst/>
              <a:rect r="r" b="b" t="t" l="l"/>
              <a:pathLst>
                <a:path h="1183835" w="1484382">
                  <a:moveTo>
                    <a:pt x="28420" y="0"/>
                  </a:moveTo>
                  <a:lnTo>
                    <a:pt x="1455963" y="0"/>
                  </a:lnTo>
                  <a:cubicBezTo>
                    <a:pt x="1471658" y="0"/>
                    <a:pt x="1484382" y="12724"/>
                    <a:pt x="1484382" y="28420"/>
                  </a:cubicBezTo>
                  <a:lnTo>
                    <a:pt x="1484382" y="1155415"/>
                  </a:lnTo>
                  <a:cubicBezTo>
                    <a:pt x="1484382" y="1171111"/>
                    <a:pt x="1471658" y="1183835"/>
                    <a:pt x="1455963" y="1183835"/>
                  </a:cubicBezTo>
                  <a:lnTo>
                    <a:pt x="28420" y="1183835"/>
                  </a:lnTo>
                  <a:cubicBezTo>
                    <a:pt x="20882" y="1183835"/>
                    <a:pt x="13654" y="1180840"/>
                    <a:pt x="8324" y="1175511"/>
                  </a:cubicBezTo>
                  <a:cubicBezTo>
                    <a:pt x="2994" y="1170181"/>
                    <a:pt x="0" y="1162952"/>
                    <a:pt x="0" y="1155415"/>
                  </a:cubicBezTo>
                  <a:lnTo>
                    <a:pt x="0" y="28420"/>
                  </a:lnTo>
                  <a:cubicBezTo>
                    <a:pt x="0" y="12724"/>
                    <a:pt x="12724" y="0"/>
                    <a:pt x="28420" y="0"/>
                  </a:cubicBezTo>
                  <a:close/>
                </a:path>
              </a:pathLst>
            </a:custGeom>
            <a:blipFill>
              <a:blip r:embed="rId3"/>
              <a:stretch>
                <a:fillRect l="-636" t="0" r="-636" b="0"/>
              </a:stretch>
            </a:blipFill>
            <a:ln cap="sq">
              <a:noFill/>
              <a:prstDash val="solid"/>
              <a:miter/>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7</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067009"/>
            <a:chOff x="0" y="0"/>
            <a:chExt cx="17665700" cy="2756012"/>
          </a:xfrm>
        </p:grpSpPr>
        <p:sp>
          <p:nvSpPr>
            <p:cNvPr name="TextBox 7" id="7"/>
            <p:cNvSpPr txBox="true"/>
            <p:nvPr/>
          </p:nvSpPr>
          <p:spPr>
            <a:xfrm rot="0">
              <a:off x="0" y="-85725"/>
              <a:ext cx="176657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Overfitting and Imbalance</a:t>
              </a:r>
            </a:p>
          </p:txBody>
        </p:sp>
        <p:sp>
          <p:nvSpPr>
            <p:cNvPr name="TextBox 8" id="8"/>
            <p:cNvSpPr txBox="true"/>
            <p:nvPr/>
          </p:nvSpPr>
          <p:spPr>
            <a:xfrm rot="0">
              <a:off x="0" y="2187687"/>
              <a:ext cx="176657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Understanding biases in model performance</a:t>
              </a:r>
            </a:p>
          </p:txBody>
        </p:sp>
      </p:grpSp>
      <p:grpSp>
        <p:nvGrpSpPr>
          <p:cNvPr name="Group 9" id="9"/>
          <p:cNvGrpSpPr/>
          <p:nvPr/>
        </p:nvGrpSpPr>
        <p:grpSpPr>
          <a:xfrm rot="0">
            <a:off x="1800225" y="5143500"/>
            <a:ext cx="4308497" cy="2578100"/>
            <a:chOff x="0" y="0"/>
            <a:chExt cx="5744662" cy="3437467"/>
          </a:xfrm>
        </p:grpSpPr>
        <p:sp>
          <p:nvSpPr>
            <p:cNvPr name="TextBox 10" id="10"/>
            <p:cNvSpPr txBox="true"/>
            <p:nvPr/>
          </p:nvSpPr>
          <p:spPr>
            <a:xfrm rot="0">
              <a:off x="0" y="0"/>
              <a:ext cx="5744662"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Underfitting</a:t>
              </a:r>
            </a:p>
          </p:txBody>
        </p:sp>
        <p:sp>
          <p:nvSpPr>
            <p:cNvPr name="TextBox 11" id="11"/>
            <p:cNvSpPr txBox="true"/>
            <p:nvPr/>
          </p:nvSpPr>
          <p:spPr>
            <a:xfrm rot="0">
              <a:off x="0" y="1060450"/>
              <a:ext cx="5744662" cy="23770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Underfitting occurs when a model is too simple, resulting in </a:t>
              </a:r>
              <a:r>
                <a:rPr lang="en-US" b="true" sz="2000" spc="-30" strike="noStrike" u="none">
                  <a:solidFill>
                    <a:srgbClr val="D0E1F9"/>
                  </a:solidFill>
                  <a:latin typeface="Helvetica World Bold"/>
                  <a:ea typeface="Helvetica World Bold"/>
                  <a:cs typeface="Helvetica World Bold"/>
                  <a:sym typeface="Helvetica World Bold"/>
                </a:rPr>
                <a:t>high bias</a:t>
              </a:r>
              <a:r>
                <a:rPr lang="en-US" sz="2000" spc="-30" strike="noStrike" u="none">
                  <a:solidFill>
                    <a:srgbClr val="D0E1F9"/>
                  </a:solidFill>
                  <a:latin typeface="Helvetica World"/>
                  <a:ea typeface="Helvetica World"/>
                  <a:cs typeface="Helvetica World"/>
                  <a:sym typeface="Helvetica World"/>
                </a:rPr>
                <a:t> and failure to learn from training data, leading to poor performance on both training and test datasets.</a:t>
              </a:r>
            </a:p>
          </p:txBody>
        </p:sp>
      </p:grpSp>
      <p:grpSp>
        <p:nvGrpSpPr>
          <p:cNvPr name="Group 12" id="12"/>
          <p:cNvGrpSpPr/>
          <p:nvPr/>
        </p:nvGrpSpPr>
        <p:grpSpPr>
          <a:xfrm rot="0">
            <a:off x="7291388" y="5143500"/>
            <a:ext cx="4010025" cy="3311525"/>
            <a:chOff x="0" y="0"/>
            <a:chExt cx="5346700" cy="4415367"/>
          </a:xfrm>
        </p:grpSpPr>
        <p:sp>
          <p:nvSpPr>
            <p:cNvPr name="TextBox 13" id="13"/>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Overfitting</a:t>
              </a:r>
            </a:p>
          </p:txBody>
        </p:sp>
        <p:sp>
          <p:nvSpPr>
            <p:cNvPr name="TextBox 14" id="14"/>
            <p:cNvSpPr txBox="true"/>
            <p:nvPr/>
          </p:nvSpPr>
          <p:spPr>
            <a:xfrm rot="0">
              <a:off x="0" y="1060450"/>
              <a:ext cx="5346700" cy="33549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Overfitting happens when a model captures noise and details in the training set, resulting in </a:t>
              </a:r>
              <a:r>
                <a:rPr lang="en-US" b="true" sz="2000" spc="-30" strike="noStrike" u="none">
                  <a:solidFill>
                    <a:srgbClr val="D0E1F9"/>
                  </a:solidFill>
                  <a:latin typeface="Helvetica World Bold"/>
                  <a:ea typeface="Helvetica World Bold"/>
                  <a:cs typeface="Helvetica World Bold"/>
                  <a:sym typeface="Helvetica World Bold"/>
                </a:rPr>
                <a:t>high variance</a:t>
              </a:r>
              <a:r>
                <a:rPr lang="en-US" sz="2000" spc="-30" strike="noStrike" u="none">
                  <a:solidFill>
                    <a:srgbClr val="D0E1F9"/>
                  </a:solidFill>
                  <a:latin typeface="Helvetica World"/>
                  <a:ea typeface="Helvetica World"/>
                  <a:cs typeface="Helvetica World"/>
                  <a:sym typeface="Helvetica World"/>
                </a:rPr>
                <a:t> and poor generalisation. This leads to excellent training performance but failure during testing.</a:t>
              </a:r>
            </a:p>
          </p:txBody>
        </p:sp>
      </p:grpSp>
      <p:grpSp>
        <p:nvGrpSpPr>
          <p:cNvPr name="Group 15" id="15"/>
          <p:cNvGrpSpPr/>
          <p:nvPr/>
        </p:nvGrpSpPr>
        <p:grpSpPr>
          <a:xfrm rot="0">
            <a:off x="12172950" y="5143500"/>
            <a:ext cx="4010025" cy="3254375"/>
            <a:chOff x="0" y="0"/>
            <a:chExt cx="5346700" cy="4339167"/>
          </a:xfrm>
        </p:grpSpPr>
        <p:sp>
          <p:nvSpPr>
            <p:cNvPr name="TextBox 16" id="16"/>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Techniques</a:t>
              </a:r>
            </a:p>
          </p:txBody>
        </p:sp>
        <p:sp>
          <p:nvSpPr>
            <p:cNvPr name="TextBox 17" id="17"/>
            <p:cNvSpPr txBox="true"/>
            <p:nvPr/>
          </p:nvSpPr>
          <p:spPr>
            <a:xfrm rot="0">
              <a:off x="0" y="1060450"/>
              <a:ext cx="5346700" cy="32787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Techniques like SMOTE, undersampling, and class weighting help address class imbalance, enabling models to learn better from minority classes, thus improving overall performance and reducing overfitting risks.</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8</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3695700"/>
            <a:chOff x="0" y="0"/>
            <a:chExt cx="17259300" cy="4927600"/>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Baseline Model Results</a:t>
              </a:r>
            </a:p>
          </p:txBody>
        </p:sp>
        <p:sp>
          <p:nvSpPr>
            <p:cNvPr name="TextBox 8" id="8"/>
            <p:cNvSpPr txBox="true"/>
            <p:nvPr/>
          </p:nvSpPr>
          <p:spPr>
            <a:xfrm rot="0">
              <a:off x="0" y="2187687"/>
              <a:ext cx="172593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Performance Metrics and Challenges</a:t>
              </a:r>
            </a:p>
          </p:txBody>
        </p:sp>
        <p:sp>
          <p:nvSpPr>
            <p:cNvPr name="TextBox 9" id="9"/>
            <p:cNvSpPr txBox="true"/>
            <p:nvPr/>
          </p:nvSpPr>
          <p:spPr>
            <a:xfrm rot="0">
              <a:off x="0" y="3059641"/>
              <a:ext cx="13512134" cy="1867959"/>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The baseline model exhibited an </a:t>
              </a:r>
              <a:r>
                <a:rPr lang="en-US" b="true" sz="2499" spc="-37">
                  <a:solidFill>
                    <a:srgbClr val="D0E1F9"/>
                  </a:solidFill>
                  <a:latin typeface="Helvetica World Bold"/>
                  <a:ea typeface="Helvetica World Bold"/>
                  <a:cs typeface="Helvetica World Bold"/>
                  <a:sym typeface="Helvetica World Bold"/>
                </a:rPr>
                <a:t>accuracy of 0.8043</a:t>
              </a:r>
              <a:r>
                <a:rPr lang="en-US" sz="2499" spc="-37">
                  <a:solidFill>
                    <a:srgbClr val="D0E1F9"/>
                  </a:solidFill>
                  <a:latin typeface="Helvetica World"/>
                  <a:ea typeface="Helvetica World"/>
                  <a:cs typeface="Helvetica World"/>
                  <a:sym typeface="Helvetica World"/>
                </a:rPr>
                <a:t> but failed to predict minority classes, resulting in an F1-score of </a:t>
              </a:r>
              <a:r>
                <a:rPr lang="en-US" b="true" sz="2499" spc="-37">
                  <a:solidFill>
                    <a:srgbClr val="D0E1F9"/>
                  </a:solidFill>
                  <a:latin typeface="Helvetica World Bold"/>
                  <a:ea typeface="Helvetica World Bold"/>
                  <a:cs typeface="Helvetica World Bold"/>
                  <a:sym typeface="Helvetica World Bold"/>
                </a:rPr>
                <a:t>0.0000</a:t>
              </a:r>
              <a:r>
                <a:rPr lang="en-US" sz="2499" spc="-37">
                  <a:solidFill>
                    <a:srgbClr val="D0E1F9"/>
                  </a:solidFill>
                  <a:latin typeface="Helvetica World"/>
                  <a:ea typeface="Helvetica World"/>
                  <a:cs typeface="Helvetica World"/>
                  <a:sym typeface="Helvetica World"/>
                </a:rPr>
                <a:t> and a ROC-AUC near </a:t>
              </a:r>
              <a:r>
                <a:rPr lang="en-US" b="true" sz="2499" spc="-37">
                  <a:solidFill>
                    <a:srgbClr val="D0E1F9"/>
                  </a:solidFill>
                  <a:latin typeface="Helvetica World Bold"/>
                  <a:ea typeface="Helvetica World Bold"/>
                  <a:cs typeface="Helvetica World Bold"/>
                  <a:sym typeface="Helvetica World Bold"/>
                </a:rPr>
                <a:t>0.49</a:t>
              </a:r>
              <a:r>
                <a:rPr lang="en-US" sz="2499" spc="-37">
                  <a:solidFill>
                    <a:srgbClr val="D0E1F9"/>
                  </a:solidFill>
                  <a:latin typeface="Helvetica World"/>
                  <a:ea typeface="Helvetica World"/>
                  <a:cs typeface="Helvetica World"/>
                  <a:sym typeface="Helvetica World"/>
                </a:rPr>
                <a:t>. Regularisation alone did not address the imbalance issue.</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9</a:t>
            </a:r>
          </a:p>
        </p:txBody>
      </p:sp>
      <p:grpSp>
        <p:nvGrpSpPr>
          <p:cNvPr name="Group 3" id="3"/>
          <p:cNvGrpSpPr/>
          <p:nvPr/>
        </p:nvGrpSpPr>
        <p:grpSpPr>
          <a:xfrm rot="0">
            <a:off x="666750" y="666750"/>
            <a:ext cx="9763125" cy="3105150"/>
            <a:chOff x="0" y="0"/>
            <a:chExt cx="13017500" cy="4140200"/>
          </a:xfrm>
        </p:grpSpPr>
        <p:sp>
          <p:nvSpPr>
            <p:cNvPr name="TextBox 4" id="4"/>
            <p:cNvSpPr txBox="true"/>
            <p:nvPr/>
          </p:nvSpPr>
          <p:spPr>
            <a:xfrm rot="0">
              <a:off x="0" y="66675"/>
              <a:ext cx="13017500" cy="3040592"/>
            </a:xfrm>
            <a:prstGeom prst="rect">
              <a:avLst/>
            </a:prstGeom>
          </p:spPr>
          <p:txBody>
            <a:bodyPr anchor="t" rtlCol="false" tIns="0" lIns="0" bIns="0" rIns="0">
              <a:spAutoFit/>
            </a:bodyPr>
            <a:lstStyle/>
            <a:p>
              <a:pPr algn="l" marL="0" indent="0" lvl="0">
                <a:lnSpc>
                  <a:spcPts val="8800"/>
                </a:lnSpc>
              </a:pPr>
              <a:r>
                <a:rPr lang="en-US" sz="8000" spc="-240">
                  <a:solidFill>
                    <a:srgbClr val="D0E1F9"/>
                  </a:solidFill>
                  <a:latin typeface="Georgia Pro Condensed"/>
                  <a:ea typeface="Georgia Pro Condensed"/>
                  <a:cs typeface="Georgia Pro Condensed"/>
                  <a:sym typeface="Georgia Pro Condensed"/>
                </a:rPr>
                <a:t>Comparative Performance Analysis</a:t>
              </a:r>
            </a:p>
          </p:txBody>
        </p:sp>
        <p:sp>
          <p:nvSpPr>
            <p:cNvPr name="TextBox 5" id="5"/>
            <p:cNvSpPr txBox="true"/>
            <p:nvPr/>
          </p:nvSpPr>
          <p:spPr>
            <a:xfrm rot="0">
              <a:off x="0" y="3571875"/>
              <a:ext cx="130175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Evaluating EEG Dataset Effectiveness</a:t>
              </a:r>
            </a:p>
          </p:txBody>
        </p:sp>
      </p:grpSp>
      <p:sp>
        <p:nvSpPr>
          <p:cNvPr name="TextBox 6" id="6"/>
          <p:cNvSpPr txBox="true"/>
          <p:nvPr/>
        </p:nvSpPr>
        <p:spPr>
          <a:xfrm rot="0">
            <a:off x="666750" y="7845425"/>
            <a:ext cx="8324850" cy="1774825"/>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The analysis highlights the significant differences in model performance across </a:t>
            </a:r>
            <a:r>
              <a:rPr lang="en-US" b="true" sz="2499" spc="-37">
                <a:solidFill>
                  <a:srgbClr val="D0E1F9"/>
                </a:solidFill>
                <a:latin typeface="Helvetica World Bold"/>
                <a:ea typeface="Helvetica World Bold"/>
                <a:cs typeface="Helvetica World Bold"/>
                <a:sym typeface="Helvetica World Bold"/>
              </a:rPr>
              <a:t>Kaggle, Bonn, and CHB-MIT</a:t>
            </a:r>
            <a:r>
              <a:rPr lang="en-US" sz="2499" spc="-37">
                <a:solidFill>
                  <a:srgbClr val="D0E1F9"/>
                </a:solidFill>
                <a:latin typeface="Helvetica World"/>
                <a:ea typeface="Helvetica World"/>
                <a:cs typeface="Helvetica World"/>
                <a:sym typeface="Helvetica World"/>
              </a:rPr>
              <a:t> datasets, emphasizing the role of preprocessing and dataset complexity in shaping outcomes.</a:t>
            </a:r>
          </a:p>
        </p:txBody>
      </p:sp>
      <p:grpSp>
        <p:nvGrpSpPr>
          <p:cNvPr name="Group 7" id="7"/>
          <p:cNvGrpSpPr/>
          <p:nvPr/>
        </p:nvGrpSpPr>
        <p:grpSpPr>
          <a:xfrm rot="0">
            <a:off x="12172950" y="5316715"/>
            <a:ext cx="5448300" cy="4303535"/>
            <a:chOff x="0" y="0"/>
            <a:chExt cx="1175568" cy="928565"/>
          </a:xfrm>
        </p:grpSpPr>
        <p:sp>
          <p:nvSpPr>
            <p:cNvPr name="Freeform 8" id="8"/>
            <p:cNvSpPr/>
            <p:nvPr/>
          </p:nvSpPr>
          <p:spPr>
            <a:xfrm flipH="false" flipV="false" rot="0">
              <a:off x="0" y="0"/>
              <a:ext cx="1175568" cy="928565"/>
            </a:xfrm>
            <a:custGeom>
              <a:avLst/>
              <a:gdLst/>
              <a:ahLst/>
              <a:cxnLst/>
              <a:rect r="r" b="b" t="t" l="l"/>
              <a:pathLst>
                <a:path h="928565" w="1175568">
                  <a:moveTo>
                    <a:pt x="28420" y="0"/>
                  </a:moveTo>
                  <a:lnTo>
                    <a:pt x="1147149" y="0"/>
                  </a:lnTo>
                  <a:cubicBezTo>
                    <a:pt x="1154686" y="0"/>
                    <a:pt x="1161915" y="2994"/>
                    <a:pt x="1167244" y="8324"/>
                  </a:cubicBezTo>
                  <a:cubicBezTo>
                    <a:pt x="1172574" y="13654"/>
                    <a:pt x="1175568" y="20882"/>
                    <a:pt x="1175568" y="28420"/>
                  </a:cubicBezTo>
                  <a:lnTo>
                    <a:pt x="1175568" y="900145"/>
                  </a:lnTo>
                  <a:cubicBezTo>
                    <a:pt x="1175568" y="915841"/>
                    <a:pt x="1162845" y="928565"/>
                    <a:pt x="1147149" y="928565"/>
                  </a:cubicBezTo>
                  <a:lnTo>
                    <a:pt x="28420" y="928565"/>
                  </a:lnTo>
                  <a:cubicBezTo>
                    <a:pt x="12724" y="928565"/>
                    <a:pt x="0" y="915841"/>
                    <a:pt x="0" y="900145"/>
                  </a:cubicBezTo>
                  <a:lnTo>
                    <a:pt x="0" y="28420"/>
                  </a:lnTo>
                  <a:cubicBezTo>
                    <a:pt x="0" y="12724"/>
                    <a:pt x="12724" y="0"/>
                    <a:pt x="28420" y="0"/>
                  </a:cubicBezTo>
                  <a:close/>
                </a:path>
              </a:pathLst>
            </a:custGeom>
            <a:blipFill>
              <a:blip r:embed="rId2"/>
              <a:stretch>
                <a:fillRect l="-151" t="0" r="-151" b="0"/>
              </a:stretch>
            </a:blipFill>
            <a:ln cap="sq">
              <a:noFill/>
              <a:prstDash val="solid"/>
              <a:miter/>
            </a:ln>
          </p:spPr>
        </p:sp>
      </p:grpSp>
      <p:grpSp>
        <p:nvGrpSpPr>
          <p:cNvPr name="Group 9" id="9"/>
          <p:cNvGrpSpPr/>
          <p:nvPr/>
        </p:nvGrpSpPr>
        <p:grpSpPr>
          <a:xfrm rot="0">
            <a:off x="12172950" y="666750"/>
            <a:ext cx="5448300" cy="4345165"/>
            <a:chOff x="0" y="0"/>
            <a:chExt cx="1484382" cy="1183834"/>
          </a:xfrm>
        </p:grpSpPr>
        <p:sp>
          <p:nvSpPr>
            <p:cNvPr name="Freeform 10" id="10"/>
            <p:cNvSpPr/>
            <p:nvPr/>
          </p:nvSpPr>
          <p:spPr>
            <a:xfrm flipH="false" flipV="false" rot="0">
              <a:off x="0" y="0"/>
              <a:ext cx="1484382" cy="1183835"/>
            </a:xfrm>
            <a:custGeom>
              <a:avLst/>
              <a:gdLst/>
              <a:ahLst/>
              <a:cxnLst/>
              <a:rect r="r" b="b" t="t" l="l"/>
              <a:pathLst>
                <a:path h="1183835" w="1484382">
                  <a:moveTo>
                    <a:pt x="28420" y="0"/>
                  </a:moveTo>
                  <a:lnTo>
                    <a:pt x="1455963" y="0"/>
                  </a:lnTo>
                  <a:cubicBezTo>
                    <a:pt x="1471658" y="0"/>
                    <a:pt x="1484382" y="12724"/>
                    <a:pt x="1484382" y="28420"/>
                  </a:cubicBezTo>
                  <a:lnTo>
                    <a:pt x="1484382" y="1155415"/>
                  </a:lnTo>
                  <a:cubicBezTo>
                    <a:pt x="1484382" y="1171111"/>
                    <a:pt x="1471658" y="1183835"/>
                    <a:pt x="1455963" y="1183835"/>
                  </a:cubicBezTo>
                  <a:lnTo>
                    <a:pt x="28420" y="1183835"/>
                  </a:lnTo>
                  <a:cubicBezTo>
                    <a:pt x="20882" y="1183835"/>
                    <a:pt x="13654" y="1180840"/>
                    <a:pt x="8324" y="1175511"/>
                  </a:cubicBezTo>
                  <a:cubicBezTo>
                    <a:pt x="2994" y="1170181"/>
                    <a:pt x="0" y="1162952"/>
                    <a:pt x="0" y="1155415"/>
                  </a:cubicBezTo>
                  <a:lnTo>
                    <a:pt x="0" y="28420"/>
                  </a:lnTo>
                  <a:cubicBezTo>
                    <a:pt x="0" y="12724"/>
                    <a:pt x="12724" y="0"/>
                    <a:pt x="28420" y="0"/>
                  </a:cubicBezTo>
                  <a:close/>
                </a:path>
              </a:pathLst>
            </a:custGeom>
            <a:blipFill>
              <a:blip r:embed="rId3"/>
              <a:stretch>
                <a:fillRect l="-636" t="0" r="-636" b="0"/>
              </a:stretch>
            </a:blipFill>
            <a:ln cap="sq">
              <a:no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10</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3619500"/>
            <a:chOff x="0" y="0"/>
            <a:chExt cx="17259300" cy="4826000"/>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Best Model Achieved</a:t>
              </a:r>
            </a:p>
          </p:txBody>
        </p:sp>
        <p:sp>
          <p:nvSpPr>
            <p:cNvPr name="TextBox 8" id="8"/>
            <p:cNvSpPr txBox="true"/>
            <p:nvPr/>
          </p:nvSpPr>
          <p:spPr>
            <a:xfrm rot="0">
              <a:off x="0" y="2187687"/>
              <a:ext cx="172593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Optimal Configuration for Seizure Prediction</a:t>
              </a:r>
            </a:p>
          </p:txBody>
        </p:sp>
        <p:sp>
          <p:nvSpPr>
            <p:cNvPr name="TextBox 9" id="9"/>
            <p:cNvSpPr txBox="true"/>
            <p:nvPr/>
          </p:nvSpPr>
          <p:spPr>
            <a:xfrm rot="0">
              <a:off x="0" y="3059641"/>
              <a:ext cx="13512134" cy="1766359"/>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The optimal model configuration was identified using the Bonn EEG dataset with Pipeline A and L1 regularisation, achieving </a:t>
              </a:r>
              <a:r>
                <a:rPr lang="en-US" b="true" sz="2499" spc="-37">
                  <a:solidFill>
                    <a:srgbClr val="D0E1F9"/>
                  </a:solidFill>
                  <a:latin typeface="Helvetica World Bold"/>
                  <a:ea typeface="Helvetica World Bold"/>
                  <a:cs typeface="Helvetica World Bold"/>
                  <a:sym typeface="Helvetica World Bold"/>
                </a:rPr>
                <a:t>unmatched accuracy</a:t>
              </a:r>
              <a:r>
                <a:rPr lang="en-US" sz="2499" spc="-37">
                  <a:solidFill>
                    <a:srgbClr val="D0E1F9"/>
                  </a:solidFill>
                  <a:latin typeface="Helvetica World"/>
                  <a:ea typeface="Helvetica World"/>
                  <a:cs typeface="Helvetica World"/>
                  <a:sym typeface="Helvetica World"/>
                </a:rPr>
                <a:t> and F1-score of 1.00 during cross-validation.</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11</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3249275" cy="2067009"/>
            <a:chOff x="0" y="0"/>
            <a:chExt cx="17665700" cy="2756012"/>
          </a:xfrm>
        </p:grpSpPr>
        <p:sp>
          <p:nvSpPr>
            <p:cNvPr name="TextBox 7" id="7"/>
            <p:cNvSpPr txBox="true"/>
            <p:nvPr/>
          </p:nvSpPr>
          <p:spPr>
            <a:xfrm rot="0">
              <a:off x="0" y="-85725"/>
              <a:ext cx="176657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Key Findings</a:t>
              </a:r>
            </a:p>
          </p:txBody>
        </p:sp>
        <p:sp>
          <p:nvSpPr>
            <p:cNvPr name="TextBox 8" id="8"/>
            <p:cNvSpPr txBox="true"/>
            <p:nvPr/>
          </p:nvSpPr>
          <p:spPr>
            <a:xfrm rot="0">
              <a:off x="0" y="2187687"/>
              <a:ext cx="176657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Insights on Preprocessing and Limitations</a:t>
              </a:r>
            </a:p>
          </p:txBody>
        </p:sp>
      </p:grpSp>
      <p:grpSp>
        <p:nvGrpSpPr>
          <p:cNvPr name="Group 9" id="9"/>
          <p:cNvGrpSpPr/>
          <p:nvPr/>
        </p:nvGrpSpPr>
        <p:grpSpPr>
          <a:xfrm rot="0">
            <a:off x="1800225" y="5143500"/>
            <a:ext cx="4308497" cy="3282950"/>
            <a:chOff x="0" y="0"/>
            <a:chExt cx="5744662" cy="4377267"/>
          </a:xfrm>
        </p:grpSpPr>
        <p:sp>
          <p:nvSpPr>
            <p:cNvPr name="TextBox 10" id="10"/>
            <p:cNvSpPr txBox="true"/>
            <p:nvPr/>
          </p:nvSpPr>
          <p:spPr>
            <a:xfrm rot="0">
              <a:off x="0" y="0"/>
              <a:ext cx="5744662"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Preprocessing Order</a:t>
              </a:r>
            </a:p>
          </p:txBody>
        </p:sp>
        <p:sp>
          <p:nvSpPr>
            <p:cNvPr name="TextBox 11" id="11"/>
            <p:cNvSpPr txBox="true"/>
            <p:nvPr/>
          </p:nvSpPr>
          <p:spPr>
            <a:xfrm rot="0">
              <a:off x="0" y="1060450"/>
              <a:ext cx="5744662" cy="33168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The order of preprocessing steps </a:t>
              </a:r>
              <a:r>
                <a:rPr lang="en-US" b="true" sz="2000" spc="-30" strike="noStrike" u="none">
                  <a:solidFill>
                    <a:srgbClr val="D0E1F9"/>
                  </a:solidFill>
                  <a:latin typeface="Helvetica World Bold"/>
                  <a:ea typeface="Helvetica World Bold"/>
                  <a:cs typeface="Helvetica World Bold"/>
                  <a:sym typeface="Helvetica World Bold"/>
                </a:rPr>
                <a:t>significantly impacts</a:t>
              </a:r>
              <a:r>
                <a:rPr lang="en-US" sz="2000" spc="-30" strike="noStrike" u="none">
                  <a:solidFill>
                    <a:srgbClr val="D0E1F9"/>
                  </a:solidFill>
                  <a:latin typeface="Helvetica World"/>
                  <a:ea typeface="Helvetica World"/>
                  <a:cs typeface="Helvetica World"/>
                  <a:sym typeface="Helvetica World"/>
                </a:rPr>
                <a:t> model performance, as established by comparative analysis. Prioritizing normalization and noise removal enhances the effectiveness of subsequent processes.</a:t>
              </a:r>
            </a:p>
          </p:txBody>
        </p:sp>
      </p:grpSp>
      <p:grpSp>
        <p:nvGrpSpPr>
          <p:cNvPr name="Group 12" id="12"/>
          <p:cNvGrpSpPr/>
          <p:nvPr/>
        </p:nvGrpSpPr>
        <p:grpSpPr>
          <a:xfrm rot="0">
            <a:off x="7291388" y="5143500"/>
            <a:ext cx="4010025" cy="3282950"/>
            <a:chOff x="0" y="0"/>
            <a:chExt cx="5346700" cy="4377267"/>
          </a:xfrm>
        </p:grpSpPr>
        <p:sp>
          <p:nvSpPr>
            <p:cNvPr name="TextBox 13" id="13"/>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L1 Regularisation</a:t>
              </a:r>
            </a:p>
          </p:txBody>
        </p:sp>
        <p:sp>
          <p:nvSpPr>
            <p:cNvPr name="TextBox 14" id="14"/>
            <p:cNvSpPr txBox="true"/>
            <p:nvPr/>
          </p:nvSpPr>
          <p:spPr>
            <a:xfrm rot="0">
              <a:off x="0" y="1060450"/>
              <a:ext cx="5346700" cy="33168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L1 regularisation demonstrated the </a:t>
              </a:r>
              <a:r>
                <a:rPr lang="en-US" b="true" sz="2000" spc="-30" strike="noStrike" u="none">
                  <a:solidFill>
                    <a:srgbClr val="D0E1F9"/>
                  </a:solidFill>
                  <a:latin typeface="Helvetica World Bold"/>
                  <a:ea typeface="Helvetica World Bold"/>
                  <a:cs typeface="Helvetica World Bold"/>
                  <a:sym typeface="Helvetica World Bold"/>
                </a:rPr>
                <a:t>strongest sparsity</a:t>
              </a:r>
              <a:r>
                <a:rPr lang="en-US" sz="2000" spc="-30" strike="noStrike" u="none">
                  <a:solidFill>
                    <a:srgbClr val="D0E1F9"/>
                  </a:solidFill>
                  <a:latin typeface="Helvetica World"/>
                  <a:ea typeface="Helvetica World"/>
                  <a:cs typeface="Helvetica World"/>
                  <a:sym typeface="Helvetica World"/>
                </a:rPr>
                <a:t>, allowing for effective feature selection. This technique improved model interpretability while maintaining predictive accuracy on the Bonn EEG dataset.</a:t>
              </a:r>
            </a:p>
          </p:txBody>
        </p:sp>
      </p:grpSp>
      <p:grpSp>
        <p:nvGrpSpPr>
          <p:cNvPr name="Group 15" id="15"/>
          <p:cNvGrpSpPr/>
          <p:nvPr/>
        </p:nvGrpSpPr>
        <p:grpSpPr>
          <a:xfrm rot="0">
            <a:off x="12172950" y="5143500"/>
            <a:ext cx="4010025" cy="2930525"/>
            <a:chOff x="0" y="0"/>
            <a:chExt cx="5346700" cy="3907367"/>
          </a:xfrm>
        </p:grpSpPr>
        <p:sp>
          <p:nvSpPr>
            <p:cNvPr name="TextBox 16" id="16"/>
            <p:cNvSpPr txBox="true"/>
            <p:nvPr/>
          </p:nvSpPr>
          <p:spPr>
            <a:xfrm rot="0">
              <a:off x="0" y="0"/>
              <a:ext cx="5346700" cy="533400"/>
            </a:xfrm>
            <a:prstGeom prst="rect">
              <a:avLst/>
            </a:prstGeom>
          </p:spPr>
          <p:txBody>
            <a:bodyPr anchor="t" rtlCol="false" tIns="0" lIns="0" bIns="0" rIns="0">
              <a:spAutoFit/>
            </a:bodyPr>
            <a:lstStyle/>
            <a:p>
              <a:pPr algn="l" marL="0" indent="0" lvl="0">
                <a:lnSpc>
                  <a:spcPts val="2999"/>
                </a:lnSpc>
                <a:spcBef>
                  <a:spcPct val="0"/>
                </a:spcBef>
              </a:pPr>
              <a:r>
                <a:rPr lang="en-US" b="true" sz="2499" spc="-37">
                  <a:solidFill>
                    <a:srgbClr val="D0E1F9"/>
                  </a:solidFill>
                  <a:latin typeface="Helvetica World Bold"/>
                  <a:ea typeface="Helvetica World Bold"/>
                  <a:cs typeface="Helvetica World Bold"/>
                  <a:sym typeface="Helvetica World Bold"/>
                </a:rPr>
                <a:t>Limitations</a:t>
              </a:r>
            </a:p>
          </p:txBody>
        </p:sp>
        <p:sp>
          <p:nvSpPr>
            <p:cNvPr name="TextBox 17" id="17"/>
            <p:cNvSpPr txBox="true"/>
            <p:nvPr/>
          </p:nvSpPr>
          <p:spPr>
            <a:xfrm rot="0">
              <a:off x="0" y="1060450"/>
              <a:ext cx="5346700" cy="2846917"/>
            </a:xfrm>
            <a:prstGeom prst="rect">
              <a:avLst/>
            </a:prstGeom>
          </p:spPr>
          <p:txBody>
            <a:bodyPr anchor="t" rtlCol="false" tIns="0" lIns="0" bIns="0" rIns="0">
              <a:spAutoFit/>
            </a:bodyPr>
            <a:lstStyle/>
            <a:p>
              <a:pPr algn="l" marL="0" indent="0" lvl="0">
                <a:lnSpc>
                  <a:spcPts val="2800"/>
                </a:lnSpc>
              </a:pPr>
              <a:r>
                <a:rPr lang="en-US" sz="2000" spc="-30" strike="noStrike" u="none">
                  <a:solidFill>
                    <a:srgbClr val="D0E1F9"/>
                  </a:solidFill>
                  <a:latin typeface="Helvetica World"/>
                  <a:ea typeface="Helvetica World"/>
                  <a:cs typeface="Helvetica World"/>
                  <a:sym typeface="Helvetica World"/>
                </a:rPr>
                <a:t>Key limitations include reliance on </a:t>
              </a:r>
              <a:r>
                <a:rPr lang="en-US" b="true" sz="2000" spc="-30" strike="noStrike" u="none">
                  <a:solidFill>
                    <a:srgbClr val="D0E1F9"/>
                  </a:solidFill>
                  <a:latin typeface="Helvetica World Bold"/>
                  <a:ea typeface="Helvetica World Bold"/>
                  <a:cs typeface="Helvetica World Bold"/>
                  <a:sym typeface="Helvetica World Bold"/>
                </a:rPr>
                <a:t>synthetic datasets</a:t>
              </a:r>
              <a:r>
                <a:rPr lang="en-US" sz="2000" spc="-30" strike="noStrike" u="none">
                  <a:solidFill>
                    <a:srgbClr val="D0E1F9"/>
                  </a:solidFill>
                  <a:latin typeface="Helvetica World"/>
                  <a:ea typeface="Helvetica World"/>
                  <a:cs typeface="Helvetica World"/>
                  <a:sym typeface="Helvetica World"/>
                </a:rPr>
                <a:t> and absence of deep learning techniques. These factors hindered the potential for real-time EEG applications and broader generalization of findings.</a:t>
              </a:r>
            </a:p>
          </p:txBody>
        </p:sp>
      </p:grpSp>
      <p:sp>
        <p:nvSpPr>
          <p:cNvPr name="Freeform 18" id="18"/>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sp>
        <p:nvSpPr>
          <p:cNvPr name="TextBox 2" id="2"/>
          <p:cNvSpPr txBox="true"/>
          <p:nvPr/>
        </p:nvSpPr>
        <p:spPr>
          <a:xfrm rot="0">
            <a:off x="17259300" y="9201150"/>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D0E1F9"/>
                </a:solidFill>
                <a:latin typeface="Helvetica World"/>
                <a:ea typeface="Helvetica World"/>
                <a:cs typeface="Helvetica World"/>
                <a:sym typeface="Helvetica World"/>
              </a:rPr>
              <a:t>12</a:t>
            </a:r>
          </a:p>
        </p:txBody>
      </p:sp>
      <p:grpSp>
        <p:nvGrpSpPr>
          <p:cNvPr name="Group 3" id="3"/>
          <p:cNvGrpSpPr/>
          <p:nvPr/>
        </p:nvGrpSpPr>
        <p:grpSpPr>
          <a:xfrm rot="0">
            <a:off x="666750" y="666750"/>
            <a:ext cx="16954500" cy="8953500"/>
            <a:chOff x="0" y="0"/>
            <a:chExt cx="4465383" cy="2358123"/>
          </a:xfrm>
        </p:grpSpPr>
        <p:sp>
          <p:nvSpPr>
            <p:cNvPr name="Freeform 4" id="4"/>
            <p:cNvSpPr/>
            <p:nvPr/>
          </p:nvSpPr>
          <p:spPr>
            <a:xfrm flipH="false" flipV="false" rot="0">
              <a:off x="0" y="0"/>
              <a:ext cx="4465383" cy="2358124"/>
            </a:xfrm>
            <a:custGeom>
              <a:avLst/>
              <a:gdLst/>
              <a:ahLst/>
              <a:cxnLst/>
              <a:rect r="r" b="b" t="t" l="l"/>
              <a:pathLst>
                <a:path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F436D"/>
            </a:solidFill>
            <a:ln cap="rnd">
              <a:noFill/>
              <a:prstDash val="solid"/>
              <a:round/>
            </a:ln>
          </p:spPr>
        </p:sp>
        <p:sp>
          <p:nvSpPr>
            <p:cNvPr name="TextBox 5" id="5"/>
            <p:cNvSpPr txBox="true"/>
            <p:nvPr/>
          </p:nvSpPr>
          <p:spPr>
            <a:xfrm>
              <a:off x="0" y="-57150"/>
              <a:ext cx="4465383" cy="241527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6" id="6"/>
          <p:cNvGrpSpPr/>
          <p:nvPr/>
        </p:nvGrpSpPr>
        <p:grpSpPr>
          <a:xfrm rot="0">
            <a:off x="1800225" y="1562100"/>
            <a:ext cx="12944475" cy="3619500"/>
            <a:chOff x="0" y="0"/>
            <a:chExt cx="17259300" cy="4826000"/>
          </a:xfrm>
        </p:grpSpPr>
        <p:sp>
          <p:nvSpPr>
            <p:cNvPr name="TextBox 7" id="7"/>
            <p:cNvSpPr txBox="true"/>
            <p:nvPr/>
          </p:nvSpPr>
          <p:spPr>
            <a:xfrm rot="0">
              <a:off x="0" y="-85725"/>
              <a:ext cx="17259300" cy="1702858"/>
            </a:xfrm>
            <a:prstGeom prst="rect">
              <a:avLst/>
            </a:prstGeom>
          </p:spPr>
          <p:txBody>
            <a:bodyPr anchor="t" rtlCol="false" tIns="0" lIns="0" bIns="0" rIns="0">
              <a:spAutoFit/>
            </a:bodyPr>
            <a:lstStyle/>
            <a:p>
              <a:pPr algn="l" marL="0" indent="0" lvl="0">
                <a:lnSpc>
                  <a:spcPts val="10400"/>
                </a:lnSpc>
              </a:pPr>
              <a:r>
                <a:rPr lang="en-US" sz="8000" spc="-240">
                  <a:solidFill>
                    <a:srgbClr val="D0E1F9"/>
                  </a:solidFill>
                  <a:latin typeface="Georgia Pro Condensed"/>
                  <a:ea typeface="Georgia Pro Condensed"/>
                  <a:cs typeface="Georgia Pro Condensed"/>
                  <a:sym typeface="Georgia Pro Condensed"/>
                </a:rPr>
                <a:t>Conclusion &amp; Future Directions</a:t>
              </a:r>
            </a:p>
          </p:txBody>
        </p:sp>
        <p:sp>
          <p:nvSpPr>
            <p:cNvPr name="TextBox 8" id="8"/>
            <p:cNvSpPr txBox="true"/>
            <p:nvPr/>
          </p:nvSpPr>
          <p:spPr>
            <a:xfrm rot="0">
              <a:off x="0" y="2187687"/>
              <a:ext cx="17259300" cy="568325"/>
            </a:xfrm>
            <a:prstGeom prst="rect">
              <a:avLst/>
            </a:prstGeom>
          </p:spPr>
          <p:txBody>
            <a:bodyPr anchor="t" rtlCol="false" tIns="0" lIns="0" bIns="0" rIns="0">
              <a:spAutoFit/>
            </a:bodyPr>
            <a:lstStyle/>
            <a:p>
              <a:pPr algn="l" marL="0" indent="0" lvl="0">
                <a:lnSpc>
                  <a:spcPts val="3000"/>
                </a:lnSpc>
                <a:spcBef>
                  <a:spcPct val="0"/>
                </a:spcBef>
              </a:pPr>
              <a:r>
                <a:rPr lang="en-US" b="true" sz="2500" spc="-37">
                  <a:solidFill>
                    <a:srgbClr val="D0E1F9"/>
                  </a:solidFill>
                  <a:latin typeface="Helvetica World Bold"/>
                  <a:ea typeface="Helvetica World Bold"/>
                  <a:cs typeface="Helvetica World Bold"/>
                  <a:sym typeface="Helvetica World Bold"/>
                </a:rPr>
                <a:t>Key insights and upcoming research areas</a:t>
              </a:r>
            </a:p>
          </p:txBody>
        </p:sp>
        <p:sp>
          <p:nvSpPr>
            <p:cNvPr name="TextBox 9" id="9"/>
            <p:cNvSpPr txBox="true"/>
            <p:nvPr/>
          </p:nvSpPr>
          <p:spPr>
            <a:xfrm rot="0">
              <a:off x="0" y="3059641"/>
              <a:ext cx="13512134" cy="1766359"/>
            </a:xfrm>
            <a:prstGeom prst="rect">
              <a:avLst/>
            </a:prstGeom>
          </p:spPr>
          <p:txBody>
            <a:bodyPr anchor="t" rtlCol="false" tIns="0" lIns="0" bIns="0" rIns="0">
              <a:spAutoFit/>
            </a:bodyPr>
            <a:lstStyle/>
            <a:p>
              <a:pPr algn="l" marL="0" indent="0" lvl="0">
                <a:lnSpc>
                  <a:spcPts val="3499"/>
                </a:lnSpc>
              </a:pPr>
              <a:r>
                <a:rPr lang="en-US" sz="2499" spc="-37">
                  <a:solidFill>
                    <a:srgbClr val="D0E1F9"/>
                  </a:solidFill>
                  <a:latin typeface="Helvetica World"/>
                  <a:ea typeface="Helvetica World"/>
                  <a:cs typeface="Helvetica World"/>
                  <a:sym typeface="Helvetica World"/>
                </a:rPr>
                <a:t>Preprocessing significantly influences EEG classification outcomes. Future research will explore </a:t>
              </a:r>
              <a:r>
                <a:rPr lang="en-US" b="true" sz="2499" spc="-37">
                  <a:solidFill>
                    <a:srgbClr val="D0E1F9"/>
                  </a:solidFill>
                  <a:latin typeface="Helvetica World Bold"/>
                  <a:ea typeface="Helvetica World Bold"/>
                  <a:cs typeface="Helvetica World Bold"/>
                  <a:sym typeface="Helvetica World Bold"/>
                </a:rPr>
                <a:t>CNNs, LSTMs,</a:t>
              </a:r>
              <a:r>
                <a:rPr lang="en-US" sz="2499" spc="-37">
                  <a:solidFill>
                    <a:srgbClr val="D0E1F9"/>
                  </a:solidFill>
                  <a:latin typeface="Helvetica World"/>
                  <a:ea typeface="Helvetica World"/>
                  <a:cs typeface="Helvetica World"/>
                  <a:sym typeface="Helvetica World"/>
                </a:rPr>
                <a:t> and </a:t>
              </a:r>
              <a:r>
                <a:rPr lang="en-US" b="true" sz="2499" spc="-37">
                  <a:solidFill>
                    <a:srgbClr val="D0E1F9"/>
                  </a:solidFill>
                  <a:latin typeface="Helvetica World Bold"/>
                  <a:ea typeface="Helvetica World Bold"/>
                  <a:cs typeface="Helvetica World Bold"/>
                  <a:sym typeface="Helvetica World Bold"/>
                </a:rPr>
                <a:t>Transformers</a:t>
              </a:r>
              <a:r>
                <a:rPr lang="en-US" sz="2499" spc="-37">
                  <a:solidFill>
                    <a:srgbClr val="D0E1F9"/>
                  </a:solidFill>
                  <a:latin typeface="Helvetica World"/>
                  <a:ea typeface="Helvetica World"/>
                  <a:cs typeface="Helvetica World"/>
                  <a:sym typeface="Helvetica World"/>
                </a:rPr>
                <a:t> for enhancing real-time seizure prediction capabilities and generalisation to real-world data.</a:t>
              </a:r>
            </a:p>
          </p:txBody>
        </p:sp>
      </p:grpSp>
      <p:sp>
        <p:nvSpPr>
          <p:cNvPr name="Freeform 10" id="10"/>
          <p:cNvSpPr/>
          <p:nvPr/>
        </p:nvSpPr>
        <p:spPr>
          <a:xfrm flipH="false" flipV="false" rot="-3117037">
            <a:off x="16099474" y="7952721"/>
            <a:ext cx="2112604" cy="1859092"/>
          </a:xfrm>
          <a:custGeom>
            <a:avLst/>
            <a:gdLst/>
            <a:ahLst/>
            <a:cxnLst/>
            <a:rect r="r" b="b" t="t" l="l"/>
            <a:pathLst>
              <a:path h="1859092" w="2112604">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0273F"/>
        </a:solidFill>
      </p:bgPr>
    </p:bg>
    <p:spTree>
      <p:nvGrpSpPr>
        <p:cNvPr id="1" name=""/>
        <p:cNvGrpSpPr/>
        <p:nvPr/>
      </p:nvGrpSpPr>
      <p:grpSpPr>
        <a:xfrm>
          <a:off x="0" y="0"/>
          <a:ext cx="0" cy="0"/>
          <a:chOff x="0" y="0"/>
          <a:chExt cx="0" cy="0"/>
        </a:xfrm>
      </p:grpSpPr>
      <p:grpSp>
        <p:nvGrpSpPr>
          <p:cNvPr name="Group 2" id="2"/>
          <p:cNvGrpSpPr/>
          <p:nvPr/>
        </p:nvGrpSpPr>
        <p:grpSpPr>
          <a:xfrm rot="0">
            <a:off x="0" y="0"/>
            <a:ext cx="7858125" cy="10287000"/>
            <a:chOff x="0" y="0"/>
            <a:chExt cx="1031988" cy="1350966"/>
          </a:xfrm>
        </p:grpSpPr>
        <p:sp>
          <p:nvSpPr>
            <p:cNvPr name="Freeform 3" id="3"/>
            <p:cNvSpPr/>
            <p:nvPr/>
          </p:nvSpPr>
          <p:spPr>
            <a:xfrm flipH="false" flipV="false" rot="0">
              <a:off x="0" y="0"/>
              <a:ext cx="1031988" cy="1350966"/>
            </a:xfrm>
            <a:custGeom>
              <a:avLst/>
              <a:gdLst/>
              <a:ahLst/>
              <a:cxnLst/>
              <a:rect r="r" b="b" t="t" l="l"/>
              <a:pathLst>
                <a:path h="1350966" w="1031988">
                  <a:moveTo>
                    <a:pt x="0" y="0"/>
                  </a:moveTo>
                  <a:lnTo>
                    <a:pt x="1031988" y="0"/>
                  </a:lnTo>
                  <a:lnTo>
                    <a:pt x="1031988" y="1350966"/>
                  </a:lnTo>
                  <a:lnTo>
                    <a:pt x="0" y="1350966"/>
                  </a:lnTo>
                  <a:close/>
                </a:path>
              </a:pathLst>
            </a:custGeom>
            <a:solidFill>
              <a:srgbClr val="D0E1F9"/>
            </a:solidFill>
          </p:spPr>
        </p:sp>
      </p:grpSp>
      <p:grpSp>
        <p:nvGrpSpPr>
          <p:cNvPr name="Group 4" id="4"/>
          <p:cNvGrpSpPr/>
          <p:nvPr/>
        </p:nvGrpSpPr>
        <p:grpSpPr>
          <a:xfrm rot="0">
            <a:off x="1052512" y="666750"/>
            <a:ext cx="5753100" cy="8953500"/>
            <a:chOff x="0" y="0"/>
            <a:chExt cx="814724" cy="1267949"/>
          </a:xfrm>
        </p:grpSpPr>
        <p:sp>
          <p:nvSpPr>
            <p:cNvPr name="Freeform 5" id="5"/>
            <p:cNvSpPr/>
            <p:nvPr/>
          </p:nvSpPr>
          <p:spPr>
            <a:xfrm flipH="false" flipV="false" rot="0">
              <a:off x="0" y="0"/>
              <a:ext cx="814724" cy="1267949"/>
            </a:xfrm>
            <a:custGeom>
              <a:avLst/>
              <a:gdLst/>
              <a:ahLst/>
              <a:cxnLst/>
              <a:rect r="r" b="b" t="t" l="l"/>
              <a:pathLst>
                <a:path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0" t="-199" r="0" b="-199"/>
              </a:stretch>
            </a:blipFill>
          </p:spPr>
        </p:sp>
      </p:grpSp>
      <p:sp>
        <p:nvSpPr>
          <p:cNvPr name="TextBox 6" id="6"/>
          <p:cNvSpPr txBox="true"/>
          <p:nvPr/>
        </p:nvSpPr>
        <p:spPr>
          <a:xfrm rot="0">
            <a:off x="9296400" y="9001760"/>
            <a:ext cx="8324850" cy="618490"/>
          </a:xfrm>
          <a:prstGeom prst="rect">
            <a:avLst/>
          </a:prstGeom>
        </p:spPr>
        <p:txBody>
          <a:bodyPr anchor="t" rtlCol="false" tIns="0" lIns="0" bIns="0" rIns="0">
            <a:spAutoFit/>
          </a:bodyPr>
          <a:lstStyle/>
          <a:p>
            <a:pPr algn="l" marL="0" indent="0" lvl="0">
              <a:lnSpc>
                <a:spcPts val="4940"/>
              </a:lnSpc>
            </a:pPr>
            <a:r>
              <a:rPr lang="en-US" sz="3800" spc="-57">
                <a:solidFill>
                  <a:srgbClr val="D0E1F9"/>
                </a:solidFill>
                <a:latin typeface="Helvetica World"/>
                <a:ea typeface="Helvetica World"/>
                <a:cs typeface="Helvetica World"/>
                <a:sym typeface="Helvetica World"/>
              </a:rPr>
              <a:t>Questions and Discussion Welcome</a:t>
            </a:r>
          </a:p>
        </p:txBody>
      </p:sp>
      <p:sp>
        <p:nvSpPr>
          <p:cNvPr name="TextBox 7" id="7"/>
          <p:cNvSpPr txBox="true"/>
          <p:nvPr/>
        </p:nvSpPr>
        <p:spPr>
          <a:xfrm rot="0">
            <a:off x="9303759" y="942975"/>
            <a:ext cx="8317491" cy="1999134"/>
          </a:xfrm>
          <a:prstGeom prst="rect">
            <a:avLst/>
          </a:prstGeom>
        </p:spPr>
        <p:txBody>
          <a:bodyPr anchor="t" rtlCol="false" tIns="0" lIns="0" bIns="0" rIns="0">
            <a:spAutoFit/>
          </a:bodyPr>
          <a:lstStyle/>
          <a:p>
            <a:pPr algn="l" marL="0" indent="0" lvl="0">
              <a:lnSpc>
                <a:spcPts val="14956"/>
              </a:lnSpc>
            </a:pPr>
            <a:r>
              <a:rPr lang="en-US" sz="14956" spc="-523">
                <a:solidFill>
                  <a:srgbClr val="D0E1F9"/>
                </a:solidFill>
                <a:latin typeface="Georgia Pro Condensed"/>
                <a:ea typeface="Georgia Pro Condensed"/>
                <a:cs typeface="Georgia Pro Condensed"/>
                <a:sym typeface="Georgia Pro Condensed"/>
              </a:rPr>
              <a:t>Thank You</a:t>
            </a:r>
          </a:p>
        </p:txBody>
      </p:sp>
      <p:sp>
        <p:nvSpPr>
          <p:cNvPr name="Freeform 8" id="8"/>
          <p:cNvSpPr/>
          <p:nvPr/>
        </p:nvSpPr>
        <p:spPr>
          <a:xfrm flipH="false" flipV="false" rot="-3117037">
            <a:off x="5418783" y="7952721"/>
            <a:ext cx="2112604" cy="1859092"/>
          </a:xfrm>
          <a:custGeom>
            <a:avLst/>
            <a:gdLst/>
            <a:ahLst/>
            <a:cxnLst/>
            <a:rect r="r" b="b" t="t" l="l"/>
            <a:pathLst>
              <a:path h="1859092" w="2112604">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EEG Seizure Prediction</dc:description>
  <dc:identifier>DAHJtraJrm0</dc:identifier>
  <dcterms:modified xsi:type="dcterms:W3CDTF">2011-08-01T06:04:30Z</dcterms:modified>
  <cp:revision>1</cp:revision>
  <dc:title>Presentation - EEG Seizure Prediction</dc:title>
</cp:coreProperties>
</file>